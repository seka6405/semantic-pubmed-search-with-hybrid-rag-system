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2" r:id="rId3"/>
    <p:sldId id="257" r:id="rId4"/>
    <p:sldId id="306" r:id="rId5"/>
    <p:sldId id="296" r:id="rId6"/>
    <p:sldId id="312" r:id="rId7"/>
    <p:sldId id="263" r:id="rId8"/>
    <p:sldId id="315" r:id="rId9"/>
    <p:sldId id="287" r:id="rId10"/>
    <p:sldId id="300" r:id="rId11"/>
    <p:sldId id="302" r:id="rId12"/>
    <p:sldId id="316" r:id="rId13"/>
    <p:sldId id="317" r:id="rId14"/>
    <p:sldId id="318" r:id="rId15"/>
    <p:sldId id="319" r:id="rId16"/>
    <p:sldId id="305" r:id="rId17"/>
    <p:sldId id="309" r:id="rId18"/>
    <p:sldId id="299" r:id="rId19"/>
    <p:sldId id="307" r:id="rId20"/>
    <p:sldId id="311" r:id="rId21"/>
    <p:sldId id="303" r:id="rId22"/>
    <p:sldId id="298" r:id="rId23"/>
    <p:sldId id="286" r:id="rId24"/>
  </p:sldIdLst>
  <p:sldSz cx="18288000" cy="10287000"/>
  <p:notesSz cx="6858000" cy="9144000"/>
  <p:embeddedFontLst>
    <p:embeddedFont>
      <p:font typeface="Nourd" panose="020B0604020202020204" charset="0"/>
      <p:regular r:id="rId25"/>
    </p:embeddedFont>
    <p:embeddedFont>
      <p:font typeface="Nourd Bold" panose="020B0604020202020204" charset="0"/>
      <p:regular r:id="rId26"/>
    </p:embeddedFont>
    <p:embeddedFont>
      <p:font typeface="Tahoma" panose="020B0604030504040204" pitchFamily="34" charset="0"/>
      <p:regular r:id="rId27"/>
      <p:bold r:id="rId28"/>
    </p:embeddedFont>
    <p:embeddedFont>
      <p:font typeface="Tenorite" panose="00000500000000000000" pitchFamily="2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660-4601/15/6/1113" TargetMode="External"/><Relationship Id="rId2" Type="http://schemas.openxmlformats.org/officeDocument/2006/relationships/hyperlink" Target="https://pmc.ncbi.nlm.nih.gov/articles/PMC4513072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ncbi.nlm.nih.gov/home/develop/api/" TargetMode="External"/><Relationship Id="rId4" Type="http://schemas.openxmlformats.org/officeDocument/2006/relationships/hyperlink" Target="https://arxiv.org/abs/2112.06348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7UYlHZy3r_EEDfQ_z4La_jVI2-85SuV/view?usp=sharin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edrag-frontend.vercel.app/login" TargetMode="External"/><Relationship Id="rId5" Type="http://schemas.openxmlformats.org/officeDocument/2006/relationships/hyperlink" Target="https://github.com/latheefahmed/medrag_api" TargetMode="External"/><Relationship Id="rId4" Type="http://schemas.openxmlformats.org/officeDocument/2006/relationships/hyperlink" Target="https://github.com/latheefahmed/medrag-frontend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0" y="0"/>
            <a:ext cx="12714270" cy="10287000"/>
          </a:xfrm>
          <a:custGeom>
            <a:avLst/>
            <a:gdLst/>
            <a:ahLst/>
            <a:cxnLst/>
            <a:rect l="l" t="t" r="r" b="b"/>
            <a:pathLst>
              <a:path w="12714270" h="10287000">
                <a:moveTo>
                  <a:pt x="12714269" y="0"/>
                </a:moveTo>
                <a:lnTo>
                  <a:pt x="0" y="0"/>
                </a:lnTo>
                <a:lnTo>
                  <a:pt x="0" y="10287000"/>
                </a:lnTo>
                <a:lnTo>
                  <a:pt x="12714269" y="10287000"/>
                </a:lnTo>
                <a:lnTo>
                  <a:pt x="127142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5" name="Group 5"/>
          <p:cNvGrpSpPr/>
          <p:nvPr/>
        </p:nvGrpSpPr>
        <p:grpSpPr>
          <a:xfrm>
            <a:off x="9561235" y="1079286"/>
            <a:ext cx="8128428" cy="812842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441870" y="1414082"/>
            <a:ext cx="7458865" cy="7458835"/>
            <a:chOff x="0" y="0"/>
            <a:chExt cx="6350000" cy="63499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7457" r="-3263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6153" y="2628847"/>
            <a:ext cx="9037847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urd"/>
                <a:ea typeface="Nourd"/>
                <a:cs typeface="Nourd"/>
                <a:sym typeface="Nourd"/>
              </a:rPr>
              <a:t>PubMed Semantic Bot: AI-Powered RAG Assistance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21866" y="1657632"/>
            <a:ext cx="9498062" cy="680066"/>
            <a:chOff x="0" y="0"/>
            <a:chExt cx="12664083" cy="906755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2664083" cy="906755"/>
              <a:chOff x="0" y="0"/>
              <a:chExt cx="2152378" cy="1541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152378" cy="154111"/>
              </a:xfrm>
              <a:custGeom>
                <a:avLst/>
                <a:gdLst/>
                <a:ahLst/>
                <a:cxnLst/>
                <a:rect l="l" t="t" r="r" b="b"/>
                <a:pathLst>
                  <a:path w="2152378" h="154111">
                    <a:moveTo>
                      <a:pt x="41570" y="0"/>
                    </a:moveTo>
                    <a:lnTo>
                      <a:pt x="2110808" y="0"/>
                    </a:lnTo>
                    <a:cubicBezTo>
                      <a:pt x="2121833" y="0"/>
                      <a:pt x="2132406" y="4380"/>
                      <a:pt x="2140203" y="12176"/>
                    </a:cubicBezTo>
                    <a:cubicBezTo>
                      <a:pt x="2147998" y="19972"/>
                      <a:pt x="2152378" y="30545"/>
                      <a:pt x="2152378" y="41570"/>
                    </a:cubicBezTo>
                    <a:lnTo>
                      <a:pt x="2152378" y="112541"/>
                    </a:lnTo>
                    <a:cubicBezTo>
                      <a:pt x="2152378" y="123566"/>
                      <a:pt x="2147998" y="134140"/>
                      <a:pt x="2140203" y="141936"/>
                    </a:cubicBezTo>
                    <a:cubicBezTo>
                      <a:pt x="2132406" y="149732"/>
                      <a:pt x="2121833" y="154111"/>
                      <a:pt x="2110808" y="154111"/>
                    </a:cubicBezTo>
                    <a:lnTo>
                      <a:pt x="41570" y="154111"/>
                    </a:lnTo>
                    <a:cubicBezTo>
                      <a:pt x="30545" y="154111"/>
                      <a:pt x="19972" y="149732"/>
                      <a:pt x="12176" y="141936"/>
                    </a:cubicBezTo>
                    <a:cubicBezTo>
                      <a:pt x="4380" y="134140"/>
                      <a:pt x="0" y="123566"/>
                      <a:pt x="0" y="112541"/>
                    </a:cubicBezTo>
                    <a:lnTo>
                      <a:pt x="0" y="41570"/>
                    </a:lnTo>
                    <a:cubicBezTo>
                      <a:pt x="0" y="30545"/>
                      <a:pt x="4380" y="19972"/>
                      <a:pt x="12176" y="12176"/>
                    </a:cubicBezTo>
                    <a:cubicBezTo>
                      <a:pt x="19972" y="4380"/>
                      <a:pt x="30545" y="0"/>
                      <a:pt x="41570" y="0"/>
                    </a:cubicBezTo>
                    <a:close/>
                  </a:path>
                </a:pathLst>
              </a:custGeom>
              <a:solidFill>
                <a:srgbClr val="DCFAFA">
                  <a:alpha val="74902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2152378" cy="201736"/>
              </a:xfrm>
              <a:prstGeom prst="rect">
                <a:avLst/>
              </a:prstGeom>
            </p:spPr>
            <p:txBody>
              <a:bodyPr lIns="59041" tIns="59041" rIns="59041" bIns="59041" rtlCol="0" anchor="ctr"/>
              <a:lstStyle/>
              <a:p>
                <a:pPr algn="ctr">
                  <a:lnSpc>
                    <a:spcPts val="3360"/>
                  </a:lnSpc>
                </a:pPr>
                <a:endParaRPr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169445" y="175077"/>
              <a:ext cx="9627818" cy="568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86"/>
                </a:lnSpc>
              </a:pPr>
              <a:r>
                <a:rPr lang="en-US" sz="2905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urd Bold"/>
                  <a:ea typeface="Nourd Bold"/>
                  <a:cs typeface="Nourd Bold"/>
                  <a:sym typeface="Nourd Bold"/>
                </a:rPr>
                <a:t>SEMANTIC SEARCH (PUBMED)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6B5D2B7-4D52-F27E-1D5F-F0E35A7D1664}"/>
              </a:ext>
            </a:extLst>
          </p:cNvPr>
          <p:cNvSpPr txBox="1"/>
          <p:nvPr/>
        </p:nvSpPr>
        <p:spPr>
          <a:xfrm>
            <a:off x="-786768" y="7150609"/>
            <a:ext cx="5811210" cy="42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86"/>
              </a:lnSpc>
            </a:pPr>
            <a:r>
              <a:rPr lang="en-US" sz="2905" b="1" dirty="0">
                <a:latin typeface="Nourd Bold"/>
                <a:ea typeface="Nourd Bold"/>
                <a:cs typeface="Nourd Bold"/>
                <a:sym typeface="Nourd Bold"/>
              </a:rPr>
              <a:t>TEAM NAME: CODE RIDERS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69984539-A884-29A1-47AA-73F3AB256012}"/>
              </a:ext>
            </a:extLst>
          </p:cNvPr>
          <p:cNvSpPr txBox="1"/>
          <p:nvPr/>
        </p:nvSpPr>
        <p:spPr>
          <a:xfrm>
            <a:off x="-1296248" y="7576688"/>
            <a:ext cx="4181884" cy="42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86"/>
              </a:lnSpc>
            </a:pPr>
            <a:r>
              <a:rPr lang="en-US" sz="2905" b="1" dirty="0">
                <a:latin typeface="Nourd Bold"/>
                <a:ea typeface="Nourd Bold"/>
                <a:cs typeface="Nourd Bold"/>
                <a:sym typeface="Nourd Bold"/>
              </a:rPr>
              <a:t>TEAM NO    :  11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392AB40C-EA56-8361-91E2-0D4626A196C8}"/>
              </a:ext>
            </a:extLst>
          </p:cNvPr>
          <p:cNvSpPr txBox="1"/>
          <p:nvPr/>
        </p:nvSpPr>
        <p:spPr>
          <a:xfrm>
            <a:off x="-786768" y="8002767"/>
            <a:ext cx="2382210" cy="42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86"/>
              </a:lnSpc>
            </a:pPr>
            <a:r>
              <a:rPr lang="en-US" sz="2905" b="1" dirty="0">
                <a:latin typeface="Nourd Bold"/>
                <a:ea typeface="Nourd Bold"/>
                <a:cs typeface="Nourd Bold"/>
                <a:sym typeface="Nourd Bold"/>
              </a:rPr>
              <a:t>RMKCET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A78AA-A240-1882-9B51-6F3AB53FCEB1}"/>
              </a:ext>
            </a:extLst>
          </p:cNvPr>
          <p:cNvSpPr txBox="1"/>
          <p:nvPr/>
        </p:nvSpPr>
        <p:spPr>
          <a:xfrm>
            <a:off x="794694" y="480338"/>
            <a:ext cx="2925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enorite" panose="00000500000000000000" pitchFamily="2" charset="0"/>
                <a:cs typeface="Times New Roman" panose="02020603050405020304" pitchFamily="18" charset="0"/>
              </a:rPr>
              <a:t>Life Science</a:t>
            </a:r>
          </a:p>
          <a:p>
            <a:r>
              <a:rPr lang="en-US" sz="2400" b="1" dirty="0">
                <a:latin typeface="Tenorite" panose="00000500000000000000" pitchFamily="2" charset="0"/>
                <a:cs typeface="Times New Roman" panose="02020603050405020304" pitchFamily="18" charset="0"/>
              </a:rPr>
              <a:t>Hack 2025</a:t>
            </a:r>
            <a:endParaRPr lang="en-IN" sz="2400" b="1" dirty="0">
              <a:latin typeface="Tenorite" panose="00000500000000000000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67B2F4-CEF9-11A6-B423-B133D9BF3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786581"/>
              </p:ext>
            </p:extLst>
          </p:nvPr>
        </p:nvGraphicFramePr>
        <p:xfrm>
          <a:off x="1447800" y="2067302"/>
          <a:ext cx="15544800" cy="543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782686223"/>
                    </a:ext>
                  </a:extLst>
                </a:gridCol>
                <a:gridCol w="3227963">
                  <a:extLst>
                    <a:ext uri="{9D8B030D-6E8A-4147-A177-3AD203B41FA5}">
                      <a16:colId xmlns:a16="http://schemas.microsoft.com/office/drawing/2014/main" val="3788860688"/>
                    </a:ext>
                  </a:extLst>
                </a:gridCol>
                <a:gridCol w="2989957">
                  <a:extLst>
                    <a:ext uri="{9D8B030D-6E8A-4147-A177-3AD203B41FA5}">
                      <a16:colId xmlns:a16="http://schemas.microsoft.com/office/drawing/2014/main" val="924094380"/>
                    </a:ext>
                  </a:extLst>
                </a:gridCol>
                <a:gridCol w="3703976">
                  <a:extLst>
                    <a:ext uri="{9D8B030D-6E8A-4147-A177-3AD203B41FA5}">
                      <a16:colId xmlns:a16="http://schemas.microsoft.com/office/drawing/2014/main" val="3447082736"/>
                    </a:ext>
                  </a:extLst>
                </a:gridCol>
                <a:gridCol w="2513944">
                  <a:extLst>
                    <a:ext uri="{9D8B030D-6E8A-4147-A177-3AD203B41FA5}">
                      <a16:colId xmlns:a16="http://schemas.microsoft.com/office/drawing/2014/main" val="2859523878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Team Members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Team Faculty Mentors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Faculty Mentor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Cognizant Mentor Name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984270"/>
                  </a:ext>
                </a:extLst>
              </a:tr>
              <a:tr h="48937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LATHEEF AHMED A 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lathad046@rmkcet.ac.in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Ms. Mary Selvan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maryselvanads@rmkcet.ac.in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Babu Perumal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46554"/>
                  </a:ext>
                </a:extLst>
              </a:tr>
              <a:tr h="48937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JAGATH ABHIJIT K 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jagaad039@rmkcet.ac.in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Mr. Tamil Vanan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902046"/>
                  </a:ext>
                </a:extLst>
              </a:tr>
              <a:tr h="48937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MORIBOYINA DEEKSHITH KUMAR 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moriad055@rmkcet.ac.in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182622"/>
                  </a:ext>
                </a:extLst>
              </a:tr>
              <a:tr h="48937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GURU SHANKAR P 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guruad029@rmkcet.ac.in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089692"/>
                  </a:ext>
                </a:extLst>
              </a:tr>
              <a:tr h="48937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 BHARATH 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kbhaad110@rmkcet.ac.in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702982"/>
                  </a:ext>
                </a:extLst>
              </a:tr>
              <a:tr h="48937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VALLAMSETTY VENKATA SAI PHANENDRA 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vallad095@rmkcet.ac.in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700298"/>
                  </a:ext>
                </a:extLst>
              </a:tr>
              <a:tr h="48937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KOLLURU SEKHAR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koll22ad302@rmkcet.ac.in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59580"/>
                  </a:ext>
                </a:extLst>
              </a:tr>
              <a:tr h="489373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METTUKURU VENKATA SAI NIKHILESH REDDY 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mettad053@rmkcet.ac.in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143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4E6D371-0250-A5A6-487B-7367DF04FCB3}"/>
              </a:ext>
            </a:extLst>
          </p:cNvPr>
          <p:cNvSpPr txBox="1"/>
          <p:nvPr/>
        </p:nvSpPr>
        <p:spPr>
          <a:xfrm>
            <a:off x="-1447800" y="8078159"/>
            <a:ext cx="7220863" cy="42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86"/>
              </a:lnSpc>
            </a:pPr>
            <a:r>
              <a:rPr lang="en-US" sz="2905" dirty="0">
                <a:latin typeface="Nourd Bold"/>
                <a:ea typeface="Nourd Bold"/>
                <a:cs typeface="Nourd Bold"/>
                <a:sym typeface="Nourd Bold"/>
              </a:rPr>
              <a:t>TEAM NAME: CODE RIDERS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B1144917-B1F4-07D9-9422-119E7201D6AC}"/>
              </a:ext>
            </a:extLst>
          </p:cNvPr>
          <p:cNvSpPr txBox="1"/>
          <p:nvPr/>
        </p:nvSpPr>
        <p:spPr>
          <a:xfrm>
            <a:off x="-228600" y="8615629"/>
            <a:ext cx="3868063" cy="42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86"/>
              </a:lnSpc>
            </a:pPr>
            <a:r>
              <a:rPr lang="en-US" sz="2905" dirty="0">
                <a:latin typeface="Nourd Bold"/>
                <a:ea typeface="Nourd Bold"/>
                <a:cs typeface="Nourd Bold"/>
                <a:sym typeface="Nourd Bold"/>
              </a:rPr>
              <a:t>TEAM NO    :  11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03AF0A49-5251-9FB9-C667-CFF4C09803F0}"/>
              </a:ext>
            </a:extLst>
          </p:cNvPr>
          <p:cNvSpPr txBox="1"/>
          <p:nvPr/>
        </p:nvSpPr>
        <p:spPr>
          <a:xfrm>
            <a:off x="838199" y="9153099"/>
            <a:ext cx="1582063" cy="42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86"/>
              </a:lnSpc>
            </a:pPr>
            <a:r>
              <a:rPr lang="en-US" sz="2905" dirty="0">
                <a:latin typeface="Nourd Bold"/>
                <a:ea typeface="Nourd Bold"/>
                <a:cs typeface="Nourd Bold"/>
                <a:sym typeface="Nourd Bold"/>
              </a:rPr>
              <a:t>RMKCET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7BF382-CCD4-B017-B5BC-BD490334E234}"/>
              </a:ext>
            </a:extLst>
          </p:cNvPr>
          <p:cNvSpPr txBox="1"/>
          <p:nvPr/>
        </p:nvSpPr>
        <p:spPr>
          <a:xfrm>
            <a:off x="957467" y="571500"/>
            <a:ext cx="2925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/>
                </a:solidFill>
                <a:latin typeface="Tenorite" panose="00000500000000000000" pitchFamily="2" charset="0"/>
                <a:cs typeface="Times New Roman" panose="02020603050405020304" pitchFamily="18" charset="0"/>
              </a:rPr>
              <a:t>Life Science</a:t>
            </a:r>
          </a:p>
          <a:p>
            <a:r>
              <a:rPr lang="en-US" sz="2800" b="1" dirty="0">
                <a:solidFill>
                  <a:schemeClr val="accent5"/>
                </a:solidFill>
                <a:latin typeface="Tenorite" panose="00000500000000000000" pitchFamily="2" charset="0"/>
                <a:cs typeface="Times New Roman" panose="02020603050405020304" pitchFamily="18" charset="0"/>
              </a:rPr>
              <a:t>Hack 2025</a:t>
            </a:r>
            <a:endParaRPr lang="en-IN" sz="2800" b="1" dirty="0">
              <a:solidFill>
                <a:schemeClr val="accent5"/>
              </a:solidFill>
              <a:latin typeface="Tenorite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42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38834" y="6012460"/>
            <a:ext cx="3086100" cy="552758"/>
            <a:chOff x="0" y="0"/>
            <a:chExt cx="812800" cy="145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45582"/>
            </a:xfrm>
            <a:custGeom>
              <a:avLst/>
              <a:gdLst/>
              <a:ahLst/>
              <a:cxnLst/>
              <a:rect l="l" t="t" r="r" b="b"/>
              <a:pathLst>
                <a:path w="812800" h="145582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812800" cy="145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6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6397" y="866775"/>
            <a:ext cx="17975206" cy="11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90"/>
              </a:lnSpc>
            </a:pPr>
            <a:r>
              <a:rPr lang="en-US" sz="6000" b="1" dirty="0">
                <a:solidFill>
                  <a:srgbClr val="18BBC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Problem Statement</a:t>
            </a:r>
            <a:endParaRPr lang="en-US" sz="6000" b="1" u="none" dirty="0">
              <a:solidFill>
                <a:srgbClr val="18BBC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Nourd"/>
              <a:cs typeface="Times New Roman" panose="02020603050405020304" pitchFamily="18" charset="0"/>
              <a:sym typeface="Nour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907724" y="5984039"/>
            <a:ext cx="3148319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2100" b="1" u="non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CANVA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51543" y="5984039"/>
            <a:ext cx="398491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2100" b="1" u="none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POWERPOINT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2AB3F7D-F370-EF72-6BD9-9FD491E9351F}"/>
              </a:ext>
            </a:extLst>
          </p:cNvPr>
          <p:cNvSpPr>
            <a:spLocks noGrp="1"/>
          </p:cNvSpPr>
          <p:nvPr/>
        </p:nvSpPr>
        <p:spPr>
          <a:xfrm>
            <a:off x="1219200" y="2298714"/>
            <a:ext cx="16306800" cy="6959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PubMed is a widely used online database maintained by the National Center for Biotechnology Information (NCBI). It provides access to a vast collection of biomedical literature, including research articles, clinical studies, reviews, and more. Researchers, clinicians, and students rely on PubMed to find relevant scientific information across various disciplines.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Given a specific query (e.g., an article title, keywords, or a combination), design an approach to retrieve relevant PubMed records that match the query semantically. 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goal is to enhance search precision by considering semantic relationships between terms rather than relying solely on exact keyword matches. Given a specific query (e.g., an article title, keywords, or a combination), design an approach to retrieve relevant PubMed records that match the query semantically.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3C65521D-5846-0518-3D05-92D05C4E3EF6}"/>
              </a:ext>
            </a:extLst>
          </p:cNvPr>
          <p:cNvSpPr txBox="1"/>
          <p:nvPr/>
        </p:nvSpPr>
        <p:spPr>
          <a:xfrm>
            <a:off x="1028700" y="419100"/>
            <a:ext cx="16230600" cy="233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accent5"/>
                </a:solidFill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MAJOR ISSUES ADDRESSED </a:t>
            </a:r>
          </a:p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6000" b="1" u="none" dirty="0">
                <a:solidFill>
                  <a:schemeClr val="accent5"/>
                </a:solidFill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BY PUBMED-RAG SY</a:t>
            </a:r>
            <a:r>
              <a:rPr lang="en-US" sz="6000" b="1" dirty="0">
                <a:solidFill>
                  <a:schemeClr val="accent5"/>
                </a:solidFill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STEM</a:t>
            </a:r>
            <a:endParaRPr lang="en-US" sz="6000" b="1" u="none" dirty="0">
              <a:solidFill>
                <a:schemeClr val="accent5"/>
              </a:solidFill>
              <a:latin typeface="Times New Roman" panose="02020603050405020304" pitchFamily="18" charset="0"/>
              <a:ea typeface="Nourd Bold"/>
              <a:cs typeface="Times New Roman" panose="02020603050405020304" pitchFamily="18" charset="0"/>
              <a:sym typeface="Nourd 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AA94C-EC6E-CBD9-8C68-09EFF1813541}"/>
              </a:ext>
            </a:extLst>
          </p:cNvPr>
          <p:cNvSpPr txBox="1">
            <a:spLocks/>
          </p:cNvSpPr>
          <p:nvPr/>
        </p:nvSpPr>
        <p:spPr>
          <a:xfrm>
            <a:off x="1028700" y="3162300"/>
            <a:ext cx="16365372" cy="773892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Keyword Overload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Boolean Operator Challenges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Truncation Issues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MeSH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Term Complexity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Poor Retrieval for Complex Clinical Queries</a:t>
            </a: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Lack of Semantic Search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Ineffective Handling of Multiple Queries</a:t>
            </a: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62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8">
            <a:extLst>
              <a:ext uri="{FF2B5EF4-FFF2-40B4-BE49-F238E27FC236}">
                <a16:creationId xmlns:a16="http://schemas.microsoft.com/office/drawing/2014/main" id="{63B3B370-C199-CAF8-58B9-0851D2D3B2A1}"/>
              </a:ext>
            </a:extLst>
          </p:cNvPr>
          <p:cNvSpPr txBox="1"/>
          <p:nvPr/>
        </p:nvSpPr>
        <p:spPr>
          <a:xfrm>
            <a:off x="5562600" y="114300"/>
            <a:ext cx="6088006" cy="1117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90"/>
              </a:lnSpc>
            </a:pPr>
            <a:r>
              <a:rPr lang="en-US" sz="6000" b="1" u="none" dirty="0">
                <a:solidFill>
                  <a:srgbClr val="18BBC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urd"/>
                <a:ea typeface="Nourd"/>
                <a:cs typeface="Nourd"/>
                <a:sym typeface="Nourd"/>
              </a:rPr>
              <a:t>SOLUTION</a:t>
            </a:r>
          </a:p>
        </p:txBody>
      </p:sp>
      <p:sp>
        <p:nvSpPr>
          <p:cNvPr id="4" name="TextBox 33">
            <a:extLst>
              <a:ext uri="{FF2B5EF4-FFF2-40B4-BE49-F238E27FC236}">
                <a16:creationId xmlns:a16="http://schemas.microsoft.com/office/drawing/2014/main" id="{263B3868-7DD5-1886-FD7A-BA5D76441CEE}"/>
              </a:ext>
            </a:extLst>
          </p:cNvPr>
          <p:cNvSpPr txBox="1"/>
          <p:nvPr/>
        </p:nvSpPr>
        <p:spPr>
          <a:xfrm>
            <a:off x="4876800" y="1683467"/>
            <a:ext cx="7162800" cy="399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2999"/>
              </a:lnSpc>
              <a:spcBef>
                <a:spcPct val="0"/>
              </a:spcBef>
            </a:pPr>
            <a:r>
              <a:rPr lang="en-US" sz="3600" b="1" u="none" dirty="0"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SEMANTIC</a:t>
            </a:r>
            <a:r>
              <a:rPr lang="en-US" sz="3600" b="1" u="none" dirty="0">
                <a:solidFill>
                  <a:srgbClr val="545454"/>
                </a:solidFill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 </a:t>
            </a:r>
            <a:r>
              <a:rPr lang="en-US" sz="3600" b="1" u="none" dirty="0"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SEARCH (PUBME</a:t>
            </a:r>
            <a:r>
              <a:rPr lang="en-US" sz="3600" b="1" dirty="0"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D)</a:t>
            </a:r>
            <a:endParaRPr lang="en-US" sz="2499" b="1" u="none" dirty="0">
              <a:solidFill>
                <a:srgbClr val="545454"/>
              </a:solidFill>
              <a:latin typeface="Times New Roman" panose="02020603050405020304" pitchFamily="18" charset="0"/>
              <a:ea typeface="Nourd Bold"/>
              <a:cs typeface="Times New Roman" panose="02020603050405020304" pitchFamily="18" charset="0"/>
              <a:sym typeface="Nourd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C47A8-2DC3-01C0-6E7A-469388317F3E}"/>
              </a:ext>
            </a:extLst>
          </p:cNvPr>
          <p:cNvSpPr txBox="1"/>
          <p:nvPr/>
        </p:nvSpPr>
        <p:spPr>
          <a:xfrm>
            <a:off x="800100" y="2933700"/>
            <a:ext cx="166878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Natural Language Processing 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(NLP) and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Retrieval-Augmented Generation 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(RAG) based approach has been applied to improve document retrieval beyond keyword matching.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Sentence embeddings (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S-</a:t>
            </a:r>
            <a:r>
              <a:rPr lang="en-IN" sz="28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PubMedBERT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-MS-MARCO 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Sentence-BERT variant, trained on MSMARCO passage ranking) are generated for both the query and documents to capture the contextual meaning.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similarity measure 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(such as cosine similarity) is applied to rank documents based on semantic closeness rather than just keyword overlap.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 enhance usability, the search system is integrated with a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Hybrid approach 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(semantic + lexical search) for better accuracy and diversity(MMR) in results.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 interactive interface or chatbot can be connected to explain retrieved results, making the search process more intuitive and user friendly.</a:t>
            </a:r>
          </a:p>
        </p:txBody>
      </p:sp>
    </p:spTree>
    <p:extLst>
      <p:ext uri="{BB962C8B-B14F-4D97-AF65-F5344CB8AC3E}">
        <p14:creationId xmlns:p14="http://schemas.microsoft.com/office/powerpoint/2010/main" val="282991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8">
            <a:extLst>
              <a:ext uri="{FF2B5EF4-FFF2-40B4-BE49-F238E27FC236}">
                <a16:creationId xmlns:a16="http://schemas.microsoft.com/office/drawing/2014/main" id="{854BAEEF-6BF1-C861-507D-8829FA1F77D8}"/>
              </a:ext>
            </a:extLst>
          </p:cNvPr>
          <p:cNvSpPr txBox="1"/>
          <p:nvPr/>
        </p:nvSpPr>
        <p:spPr>
          <a:xfrm>
            <a:off x="4191000" y="419100"/>
            <a:ext cx="9525000" cy="1117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90"/>
              </a:lnSpc>
            </a:pPr>
            <a:r>
              <a:rPr lang="en-US" sz="6000" b="1" u="none" dirty="0">
                <a:solidFill>
                  <a:srgbClr val="18BBC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PICO FRAME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5476A-3231-2BE2-8684-F69A9C64874E}"/>
              </a:ext>
            </a:extLst>
          </p:cNvPr>
          <p:cNvSpPr txBox="1"/>
          <p:nvPr/>
        </p:nvSpPr>
        <p:spPr>
          <a:xfrm>
            <a:off x="876300" y="2705100"/>
            <a:ext cx="16535400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600" b="1" dirty="0">
                <a:solidFill>
                  <a:schemeClr val="accent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Population / Problem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Who are the patients, or what is the problem being addressed? This includes the main condition and key patient characteristics.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solidFill>
                  <a:schemeClr val="accent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Intervention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What is the main treatment, test, or strategy you are considering? This is the "action" part of the question.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solidFill>
                  <a:schemeClr val="accent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Comparator / Comparison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What is the main alternative to the intervention? Is it being compared to a placebo, the current standard of care, or another treatment? 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solidFill>
                  <a:schemeClr val="accent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Outcome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What is the desired effect or result? What are you hoping to achieve or measure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3600" b="1" dirty="0">
                <a:solidFill>
                  <a:schemeClr val="accent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Context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In what setting or situation is this occurring?</a:t>
            </a:r>
          </a:p>
        </p:txBody>
      </p:sp>
    </p:spTree>
    <p:extLst>
      <p:ext uri="{BB962C8B-B14F-4D97-AF65-F5344CB8AC3E}">
        <p14:creationId xmlns:p14="http://schemas.microsoft.com/office/powerpoint/2010/main" val="3227030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213400-8DDD-781A-6195-0F91F41FD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8" r="5719" b="9685"/>
          <a:stretch>
            <a:fillRect/>
          </a:stretch>
        </p:blipFill>
        <p:spPr>
          <a:xfrm>
            <a:off x="201930" y="267332"/>
            <a:ext cx="17884140" cy="9994078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A30F0C3F-1353-4A25-AE8F-8157A6282149}"/>
              </a:ext>
            </a:extLst>
          </p:cNvPr>
          <p:cNvSpPr txBox="1"/>
          <p:nvPr/>
        </p:nvSpPr>
        <p:spPr>
          <a:xfrm>
            <a:off x="838200" y="8648700"/>
            <a:ext cx="590964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spcBef>
                <a:spcPct val="0"/>
              </a:spcBef>
            </a:pPr>
            <a:r>
              <a:rPr lang="en-US" sz="6000" b="1" dirty="0">
                <a:solidFill>
                  <a:srgbClr val="18BBC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urd"/>
                <a:ea typeface="Nourd"/>
                <a:cs typeface="Nourd"/>
                <a:sym typeface="Nourd"/>
              </a:rPr>
              <a:t>Algorithm Flow</a:t>
            </a:r>
          </a:p>
        </p:txBody>
      </p:sp>
    </p:spTree>
    <p:extLst>
      <p:ext uri="{BB962C8B-B14F-4D97-AF65-F5344CB8AC3E}">
        <p14:creationId xmlns:p14="http://schemas.microsoft.com/office/powerpoint/2010/main" val="108399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747936"/>
            <a:ext cx="16611600" cy="93440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2209800" y="342900"/>
            <a:ext cx="9144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5400" b="1" dirty="0">
                <a:solidFill>
                  <a:srgbClr val="18BBC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urd"/>
                <a:ea typeface="Nourd"/>
                <a:cs typeface="Nourd"/>
                <a:sym typeface="Nourd"/>
              </a:rPr>
              <a:t>Architecture</a:t>
            </a:r>
          </a:p>
          <a:p>
            <a:pPr lvl="0" algn="ctr">
              <a:spcBef>
                <a:spcPct val="0"/>
              </a:spcBef>
            </a:pPr>
            <a:r>
              <a:rPr lang="en-US" sz="5400" b="1" dirty="0">
                <a:solidFill>
                  <a:srgbClr val="18BBC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urd"/>
                <a:ea typeface="Nourd"/>
                <a:cs typeface="Nourd"/>
                <a:sym typeface="Nourd"/>
              </a:rPr>
              <a:t>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00919" y="4817"/>
            <a:ext cx="12536056" cy="1338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999"/>
              </a:lnSpc>
              <a:spcBef>
                <a:spcPct val="0"/>
              </a:spcBef>
            </a:pPr>
            <a:r>
              <a:rPr lang="en-US" sz="6000" b="1" u="none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Hybrid Models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A7254C35-A231-0EE6-272F-752D54C70E28}"/>
              </a:ext>
            </a:extLst>
          </p:cNvPr>
          <p:cNvSpPr txBox="1"/>
          <p:nvPr/>
        </p:nvSpPr>
        <p:spPr>
          <a:xfrm>
            <a:off x="1100919" y="1638108"/>
            <a:ext cx="8557000" cy="35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AI Agent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16C63AD4-742F-3242-A386-DC27805B08AF}"/>
              </a:ext>
            </a:extLst>
          </p:cNvPr>
          <p:cNvSpPr txBox="1"/>
          <p:nvPr/>
        </p:nvSpPr>
        <p:spPr>
          <a:xfrm>
            <a:off x="1107743" y="2160027"/>
            <a:ext cx="16486496" cy="4434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The code integrates with a Perplexity API, which is an advanced Large Language Model (LLM).</a:t>
            </a:r>
          </a:p>
          <a:p>
            <a:pPr algn="just">
              <a:lnSpc>
                <a:spcPts val="2940"/>
              </a:lnSpc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457200" indent="-4572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Instead of directly searching PubMed with the raw user question, the LLM breaks down the input into Short tokens, Concept buckets ,Synonyms and related terms</a:t>
            </a:r>
          </a:p>
          <a:p>
            <a:pPr marL="457200" indent="-4572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457200" indent="-4572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The AI Agent uses prompt engineering to guide the LLM, ensuring it outputs structured tokens instead of long text.</a:t>
            </a:r>
          </a:p>
          <a:p>
            <a:pPr marL="457200" indent="-4572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457200" indent="-4572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It works as a semantic planner, converting queries into meaningful tokens and concepts that improve PubMed search accuracy.</a:t>
            </a:r>
          </a:p>
          <a:p>
            <a:pPr marL="457200" indent="-4572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4545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54545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E205991-1B59-B88E-CB27-1E5B93EA3DC1}"/>
              </a:ext>
            </a:extLst>
          </p:cNvPr>
          <p:cNvSpPr txBox="1"/>
          <p:nvPr/>
        </p:nvSpPr>
        <p:spPr>
          <a:xfrm>
            <a:off x="4572000" y="6104315"/>
            <a:ext cx="8557000" cy="35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30"/>
              </a:lnSpc>
            </a:pP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Hybrid Model (BM25 + Embeddings)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B1D684B4-9BA4-EA8D-D2EA-FBB4076928AE}"/>
              </a:ext>
            </a:extLst>
          </p:cNvPr>
          <p:cNvSpPr txBox="1"/>
          <p:nvPr/>
        </p:nvSpPr>
        <p:spPr>
          <a:xfrm>
            <a:off x="4267200" y="6627997"/>
            <a:ext cx="14140218" cy="2975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Since BM25 is strong for exact matches and embeddings are strong for semantic matches, the system combines both.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A weighted score is calculated for each document based on:</a:t>
            </a:r>
          </a:p>
          <a:p>
            <a:pPr>
              <a:lnSpc>
                <a:spcPts val="2940"/>
              </a:lnSpc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                               </a:t>
            </a:r>
          </a:p>
          <a:p>
            <a:pPr>
              <a:lnSpc>
                <a:spcPts val="2940"/>
              </a:lnSpc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This hybrid approach balances precision (exact matches) and recall (semantic matches).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091F2-D98B-BFA4-76D1-E0529E77B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8305513"/>
            <a:ext cx="6439566" cy="7264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81FCF-C1A6-7202-88DE-3E4D3E42D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8BCA541-79BF-3934-AF42-CDEC783F3C01}"/>
              </a:ext>
            </a:extLst>
          </p:cNvPr>
          <p:cNvSpPr txBox="1"/>
          <p:nvPr/>
        </p:nvSpPr>
        <p:spPr>
          <a:xfrm>
            <a:off x="1105469" y="-115314"/>
            <a:ext cx="10393573" cy="133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9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Hybrid Models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55D4130-2D7F-525E-DA3B-4F5DDC2354BC}"/>
              </a:ext>
            </a:extLst>
          </p:cNvPr>
          <p:cNvSpPr txBox="1"/>
          <p:nvPr/>
        </p:nvSpPr>
        <p:spPr>
          <a:xfrm>
            <a:off x="1105469" y="1465189"/>
            <a:ext cx="8557000" cy="35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30"/>
              </a:lnSpc>
            </a:pPr>
            <a:r>
              <a:rPr lang="en-US" sz="3200" b="1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BM25 (Lexical Retrieval Model)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05AE9069-9E64-7058-D144-0FC8F0771957}"/>
              </a:ext>
            </a:extLst>
          </p:cNvPr>
          <p:cNvSpPr txBox="1"/>
          <p:nvPr/>
        </p:nvSpPr>
        <p:spPr>
          <a:xfrm>
            <a:off x="782264" y="2002574"/>
            <a:ext cx="14463423" cy="3347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BM25 is a classical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Information Retrieval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model used in the system.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It retrieves documents by looking at exact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keyword matches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between the query and PubMed abstracts.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It scores documents based on:</a:t>
            </a:r>
          </a:p>
          <a:p>
            <a:pPr>
              <a:lnSpc>
                <a:spcPts val="2940"/>
              </a:lnSpc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                         - How many times the keywords appear in the document.</a:t>
            </a:r>
          </a:p>
          <a:p>
            <a:pPr>
              <a:lnSpc>
                <a:spcPts val="2940"/>
              </a:lnSpc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                         - The importance of each keyword (inverse document frequency).</a:t>
            </a:r>
          </a:p>
          <a:p>
            <a:pPr>
              <a:lnSpc>
                <a:spcPts val="2940"/>
              </a:lnSpc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F8130F62-BEED-9A4D-5616-319F8EC499ED}"/>
              </a:ext>
            </a:extLst>
          </p:cNvPr>
          <p:cNvSpPr txBox="1"/>
          <p:nvPr/>
        </p:nvSpPr>
        <p:spPr>
          <a:xfrm>
            <a:off x="4648200" y="5691964"/>
            <a:ext cx="8557000" cy="35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30"/>
              </a:lnSpc>
            </a:pPr>
            <a:r>
              <a:rPr lang="en-US" sz="3200" b="1" dirty="0" err="1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PubMedBERT</a:t>
            </a:r>
            <a:r>
              <a:rPr lang="en-US" sz="3200" b="1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 MS-MARCO(Semantic search)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F02F1C85-38FA-839D-1D49-E159597789A0}"/>
              </a:ext>
            </a:extLst>
          </p:cNvPr>
          <p:cNvSpPr txBox="1"/>
          <p:nvPr/>
        </p:nvSpPr>
        <p:spPr>
          <a:xfrm>
            <a:off x="4495800" y="6291814"/>
            <a:ext cx="13639800" cy="4090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PubMedBERT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 (MS-MARCO fine-tuned)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creates embeddings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for both query with PubMed documents.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These embeddings are compared using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cosine similarity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to find semantically closest matches.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hybrid model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(BM25 + </a:t>
            </a:r>
            <a:r>
              <a:rPr lang="en-US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PubMedBERT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 embeddings) ensures both keyword precision and semantic understanding.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4545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54545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Nourd"/>
            </a:endParaRPr>
          </a:p>
        </p:txBody>
      </p:sp>
    </p:spTree>
    <p:extLst>
      <p:ext uri="{BB962C8B-B14F-4D97-AF65-F5344CB8AC3E}">
        <p14:creationId xmlns:p14="http://schemas.microsoft.com/office/powerpoint/2010/main" val="736481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099782" y="0"/>
            <a:ext cx="10393573" cy="133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99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Hybrid Models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1A00720-664A-4F5D-932E-DB6915B4303A}"/>
              </a:ext>
            </a:extLst>
          </p:cNvPr>
          <p:cNvSpPr txBox="1"/>
          <p:nvPr/>
        </p:nvSpPr>
        <p:spPr>
          <a:xfrm>
            <a:off x="1099782" y="1726848"/>
            <a:ext cx="8557000" cy="35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30"/>
              </a:lnSpc>
            </a:pPr>
            <a:r>
              <a:rPr lang="en-US" sz="3200" b="1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MMR (Maximal Marginal Relevance)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77C89A10-D21B-64D6-03D7-7119C33F2ED6}"/>
              </a:ext>
            </a:extLst>
          </p:cNvPr>
          <p:cNvSpPr txBox="1"/>
          <p:nvPr/>
        </p:nvSpPr>
        <p:spPr>
          <a:xfrm>
            <a:off x="1099782" y="2726171"/>
            <a:ext cx="14140218" cy="4834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After retrieving top documents, the system applies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MMR reranking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Purpose: To ensure results are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diverse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non-redundant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Without MMR, many retrieved results may be almost identical.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MMR selects documents that are both: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>
              <a:lnSpc>
                <a:spcPts val="2940"/>
              </a:lnSpc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                     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Highly relevant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to the query.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>
              <a:lnSpc>
                <a:spcPts val="2940"/>
              </a:lnSpc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                      Different from each other.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Nourd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This helps the final set of results cover a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broader evidence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base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urd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419100"/>
            <a:ext cx="18285714" cy="102857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19800" y="1286"/>
            <a:ext cx="5453737" cy="11818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9600"/>
              </a:lnSpc>
              <a:spcBef>
                <a:spcPct val="0"/>
              </a:spcBef>
            </a:pPr>
            <a:r>
              <a:rPr lang="en-US" sz="5400" dirty="0">
                <a:solidFill>
                  <a:srgbClr val="18BBCB"/>
                </a:solidFill>
                <a:latin typeface="Nourd"/>
                <a:ea typeface="Nourd"/>
                <a:cs typeface="Nourd"/>
                <a:sym typeface="Nourd"/>
              </a:rPr>
              <a:t>UI 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4003" y="1003511"/>
            <a:ext cx="8225329" cy="1177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ts val="9600"/>
              </a:lnSpc>
              <a:spcBef>
                <a:spcPct val="0"/>
              </a:spcBef>
            </a:pPr>
            <a:r>
              <a:rPr lang="en-US" sz="5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Semantic search (PUBMED)</a:t>
            </a:r>
          </a:p>
        </p:txBody>
      </p:sp>
    </p:spTree>
    <p:extLst>
      <p:ext uri="{BB962C8B-B14F-4D97-AF65-F5344CB8AC3E}">
        <p14:creationId xmlns:p14="http://schemas.microsoft.com/office/powerpoint/2010/main" val="313229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266700"/>
            <a:ext cx="18285714" cy="1028571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0" y="0"/>
            <a:ext cx="5453737" cy="11818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9600"/>
              </a:lnSpc>
              <a:spcBef>
                <a:spcPct val="0"/>
              </a:spcBef>
            </a:pPr>
            <a:r>
              <a:rPr lang="en-US" sz="5400" dirty="0">
                <a:solidFill>
                  <a:srgbClr val="18BBCB"/>
                </a:solidFill>
                <a:latin typeface="Nourd"/>
                <a:ea typeface="Nourd"/>
                <a:cs typeface="Nourd"/>
                <a:sym typeface="Nourd"/>
              </a:rPr>
              <a:t>UI WORK FLOW</a:t>
            </a:r>
          </a:p>
        </p:txBody>
      </p:sp>
    </p:spTree>
    <p:extLst>
      <p:ext uri="{BB962C8B-B14F-4D97-AF65-F5344CB8AC3E}">
        <p14:creationId xmlns:p14="http://schemas.microsoft.com/office/powerpoint/2010/main" val="4091953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266700"/>
            <a:ext cx="18285714" cy="102857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67400" y="-114300"/>
            <a:ext cx="5453737" cy="11818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9600"/>
              </a:lnSpc>
              <a:spcBef>
                <a:spcPct val="0"/>
              </a:spcBef>
            </a:pPr>
            <a:r>
              <a:rPr lang="en-US" sz="5400" dirty="0">
                <a:solidFill>
                  <a:srgbClr val="18BBCB"/>
                </a:solidFill>
                <a:latin typeface="Nourd"/>
                <a:ea typeface="Nourd"/>
                <a:cs typeface="Nourd"/>
                <a:sym typeface="Nourd"/>
              </a:rPr>
              <a:t>UI WORK FLOW</a:t>
            </a:r>
          </a:p>
        </p:txBody>
      </p:sp>
    </p:spTree>
    <p:extLst>
      <p:ext uri="{BB962C8B-B14F-4D97-AF65-F5344CB8AC3E}">
        <p14:creationId xmlns:p14="http://schemas.microsoft.com/office/powerpoint/2010/main" val="2491346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55212"/>
              </p:ext>
            </p:extLst>
          </p:nvPr>
        </p:nvGraphicFramePr>
        <p:xfrm>
          <a:off x="1524000" y="1790700"/>
          <a:ext cx="15163800" cy="7772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9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7624">
                <a:tc>
                  <a:txBody>
                    <a:bodyPr/>
                    <a:lstStyle/>
                    <a:p>
                      <a:pPr algn="ctr"/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 Category</a:t>
                      </a:r>
                    </a:p>
                  </a:txBody>
                  <a:tcPr marL="137160" marR="137160" marT="68580" marB="68580"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137160" marR="137160" marT="68580" marB="68580"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(Demo Run)</a:t>
                      </a:r>
                    </a:p>
                  </a:txBody>
                  <a:tcPr marL="137160" marR="137160" marT="68580" marB="68580" anchor="ctr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Shows</a:t>
                      </a:r>
                    </a:p>
                  </a:txBody>
                  <a:tcPr marL="137160" marR="137160" marT="68580" marB="68580" anchor="ctr"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4955"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Retrieval Quality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Precision@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 of top-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results were relevant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4955">
                <a:tc>
                  <a:txBody>
                    <a:bodyPr/>
                    <a:lstStyle/>
                    <a:p>
                      <a:endParaRPr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Recall@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relevant docs were retrieved in top-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955"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Summarization Quality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ROUGE-1 F1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lexical overlap with reference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4955">
                <a:tc>
                  <a:txBody>
                    <a:bodyPr/>
                    <a:lstStyle/>
                    <a:p>
                      <a:endParaRPr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BERTScore (F1)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semantic similarity to gold summary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4955"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 Latency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Query Time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.19 sec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 + embeddings + summarization runtime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25002" y="190500"/>
            <a:ext cx="6404317" cy="11960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ts val="9600"/>
              </a:lnSpc>
              <a:spcBef>
                <a:spcPct val="0"/>
              </a:spcBef>
            </a:pPr>
            <a:r>
              <a:rPr lang="en-US" sz="60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Performance</a:t>
            </a:r>
            <a:r>
              <a:rPr lang="en-US" sz="54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 Metrics</a:t>
            </a:r>
          </a:p>
        </p:txBody>
      </p:sp>
    </p:spTree>
    <p:extLst>
      <p:ext uri="{BB962C8B-B14F-4D97-AF65-F5344CB8AC3E}">
        <p14:creationId xmlns:p14="http://schemas.microsoft.com/office/powerpoint/2010/main" val="4293282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209479"/>
              </p:ext>
            </p:extLst>
          </p:nvPr>
        </p:nvGraphicFramePr>
        <p:xfrm>
          <a:off x="4772163" y="8709197"/>
          <a:ext cx="12458700" cy="1151509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Good for biomedical relevance, resource-intensive, needs specialized summarizer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 Enhances biomedical search but needs more robustness.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Provides precise PubMed evidence synthesis and domain-specific summarizers for scalability.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2419350" y="142872"/>
            <a:ext cx="13449300" cy="1121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600"/>
              </a:lnSpc>
              <a:spcBef>
                <a:spcPct val="0"/>
              </a:spcBef>
            </a:pPr>
            <a:r>
              <a:rPr lang="en-IN" sz="6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Variants</a:t>
            </a:r>
            <a:endParaRPr lang="en-US" sz="6000" b="1" u="none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Nourd"/>
              <a:cs typeface="Times New Roman" panose="02020603050405020304" pitchFamily="18" charset="0"/>
              <a:sym typeface="Nourd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617596A-7F27-439D-8A68-79C22C63E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049845"/>
              </p:ext>
            </p:extLst>
          </p:nvPr>
        </p:nvGraphicFramePr>
        <p:xfrm>
          <a:off x="4841399" y="5480473"/>
          <a:ext cx="12458700" cy="1151509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42815338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313933463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872703361"/>
                    </a:ext>
                  </a:extLst>
                </a:gridCol>
              </a:tblGrid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Heavy dependencies, manual similarity, general summarizer, rate limit delays.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API limits, hallucinations, weak error handling..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API/rate limits and high resource usage.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57086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AC1CFF-B7C3-D0E0-C747-BE48F4ED2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64234"/>
              </p:ext>
            </p:extLst>
          </p:nvPr>
        </p:nvGraphicFramePr>
        <p:xfrm>
          <a:off x="4786948" y="3820663"/>
          <a:ext cx="12458700" cy="1519809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42815338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313933463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872703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Maps query to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MeSH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, retrieves articles, re-ranks semantically, and summarizes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MeSH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 expansion + PubMed retrieval + role-based summarization.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Plans queries, maps to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MeSH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, retrieves PubMed docs, re-ranks with hybrid BM25+embeddings, and summarizes evidence.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57086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D7BE444-FB6B-B074-D448-558632750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338316"/>
              </p:ext>
            </p:extLst>
          </p:nvPr>
        </p:nvGraphicFramePr>
        <p:xfrm>
          <a:off x="4841399" y="7128940"/>
          <a:ext cx="12458700" cy="1151509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42815338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313933463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872703361"/>
                    </a:ext>
                  </a:extLst>
                </a:gridCol>
              </a:tblGrid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MeSH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-based recall,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MedCPT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 ranking, and summaries for PubMed insights.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Retrieves and summarizes PubMed articles by role.</a:t>
                      </a:r>
                    </a:p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Nourd"/>
                        <a:cs typeface="Times New Roman" panose="02020603050405020304" pitchFamily="18" charset="0"/>
                        <a:sym typeface="Nourd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A hybrid RAG pipeline integrating PubMed API, embeddings,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boolean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 queries, and LLM-based reasoning.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570863"/>
                  </a:ext>
                </a:extLst>
              </a:tr>
            </a:tbl>
          </a:graphicData>
        </a:graphic>
      </p:graphicFrame>
      <p:graphicFrame>
        <p:nvGraphicFramePr>
          <p:cNvPr id="16" name="Table 9">
            <a:extLst>
              <a:ext uri="{FF2B5EF4-FFF2-40B4-BE49-F238E27FC236}">
                <a16:creationId xmlns:a16="http://schemas.microsoft.com/office/drawing/2014/main" id="{515FB44F-2A18-BB15-55D4-54E4C1903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832304"/>
              </p:ext>
            </p:extLst>
          </p:nvPr>
        </p:nvGraphicFramePr>
        <p:xfrm>
          <a:off x="4786948" y="1486127"/>
          <a:ext cx="12458700" cy="1917131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562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18BBC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 Bold"/>
                        </a:rPr>
                        <a:t>Approach-1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18BBC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 Bold"/>
                        </a:rPr>
                        <a:t>Approach-2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18BBC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 Bold"/>
                        </a:rPr>
                        <a:t>Approach-3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ncbi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/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MedCPT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-Query-Encoder (embedding) +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facebook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/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bart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-large-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cnn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 (summarization).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Pegasus, BART, T5 with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spaCy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,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Gensim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Uses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PubMedBERT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 (MS-MARCO), BM25 , and PPLX LLM (Sonar) for planning and summarization.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73B2777-187C-8F18-E3C6-00469496F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48095"/>
              </p:ext>
            </p:extLst>
          </p:nvPr>
        </p:nvGraphicFramePr>
        <p:xfrm>
          <a:off x="742950" y="1484648"/>
          <a:ext cx="4152900" cy="1686642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998783119"/>
                    </a:ext>
                  </a:extLst>
                </a:gridCol>
              </a:tblGrid>
              <a:tr h="76562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381306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accent5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MODEL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68635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774FBD6-943D-3DA2-83CA-053F1F3C0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54415"/>
              </p:ext>
            </p:extLst>
          </p:nvPr>
        </p:nvGraphicFramePr>
        <p:xfrm>
          <a:off x="708831" y="3297335"/>
          <a:ext cx="4152900" cy="1456080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2051735618"/>
                    </a:ext>
                  </a:extLst>
                </a:gridCol>
              </a:tblGrid>
              <a:tr h="528016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910225"/>
                  </a:ext>
                </a:extLst>
              </a:tr>
              <a:tr h="928064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accent5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APPROACH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8635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5AF2A83-8F70-2F45-DFBB-E0869515B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531158"/>
              </p:ext>
            </p:extLst>
          </p:nvPr>
        </p:nvGraphicFramePr>
        <p:xfrm>
          <a:off x="742950" y="4714453"/>
          <a:ext cx="4152900" cy="1686642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2051735618"/>
                    </a:ext>
                  </a:extLst>
                </a:gridCol>
              </a:tblGrid>
              <a:tr h="76562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910225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accent5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ISSUES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86355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A5856F8-F58D-54CE-E5D1-D93F90119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649982"/>
              </p:ext>
            </p:extLst>
          </p:nvPr>
        </p:nvGraphicFramePr>
        <p:xfrm>
          <a:off x="742950" y="7934086"/>
          <a:ext cx="4152900" cy="1686642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2051735618"/>
                    </a:ext>
                  </a:extLst>
                </a:gridCol>
              </a:tblGrid>
              <a:tr h="76562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910225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accent5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CONCLUSION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86355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FA16208-B8A5-A8DA-4DE1-2EEED6554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351129"/>
              </p:ext>
            </p:extLst>
          </p:nvPr>
        </p:nvGraphicFramePr>
        <p:xfrm>
          <a:off x="742950" y="6362133"/>
          <a:ext cx="4152900" cy="1686642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2051735618"/>
                    </a:ext>
                  </a:extLst>
                </a:gridCol>
              </a:tblGrid>
              <a:tr h="76562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910225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accent5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DESCRIPTION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8635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23B913-798E-8812-02D9-C4E85853D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43791"/>
            <a:ext cx="16687800" cy="937260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EE91FEFA-10D5-F380-71E9-56F7E749636F}"/>
              </a:ext>
            </a:extLst>
          </p:cNvPr>
          <p:cNvSpPr txBox="1"/>
          <p:nvPr/>
        </p:nvSpPr>
        <p:spPr>
          <a:xfrm>
            <a:off x="4724400" y="723900"/>
            <a:ext cx="9296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6000" u="none" dirty="0">
                <a:solidFill>
                  <a:schemeClr val="accent5"/>
                </a:solidFill>
                <a:latin typeface="Nourd"/>
                <a:ea typeface="Nourd"/>
                <a:cs typeface="Nourd"/>
                <a:sym typeface="Nourd"/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932219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8">
            <a:extLst>
              <a:ext uri="{FF2B5EF4-FFF2-40B4-BE49-F238E27FC236}">
                <a16:creationId xmlns:a16="http://schemas.microsoft.com/office/drawing/2014/main" id="{51B32347-0EBD-D008-741C-2AE77AE1E86D}"/>
              </a:ext>
            </a:extLst>
          </p:cNvPr>
          <p:cNvSpPr txBox="1"/>
          <p:nvPr/>
        </p:nvSpPr>
        <p:spPr>
          <a:xfrm>
            <a:off x="156397" y="401955"/>
            <a:ext cx="17975206" cy="11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90"/>
              </a:lnSpc>
            </a:pPr>
            <a:r>
              <a:rPr lang="en-US" sz="6000" b="1" u="none" dirty="0">
                <a:solidFill>
                  <a:srgbClr val="18BBC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RESEARCH AND CASE STUDIES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3FF88-20E0-0279-C1F6-5A099DD700A8}"/>
              </a:ext>
            </a:extLst>
          </p:cNvPr>
          <p:cNvSpPr txBox="1"/>
          <p:nvPr/>
        </p:nvSpPr>
        <p:spPr>
          <a:xfrm>
            <a:off x="1066800" y="2552700"/>
            <a:ext cx="161544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 collecting evidence from biomedical research workflows, we found that traditional PubMed keyword searches often miss relevant articles due to synonym mismatches and long, unstructured queries along with weak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Boolean pairing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Studies show that semantic models like </a:t>
            </a:r>
            <a:r>
              <a:rPr lang="en-IN" sz="28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PubMedBERT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trained on biomedical text can capture deeper context and retrieve relevant documents beyond exact keyword matching.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Our system combines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BM25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(lexical search) and </a:t>
            </a:r>
            <a:r>
              <a:rPr lang="en-IN" sz="28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PubMedBERT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embeddings 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(semantic search), ensuring both precision and recall in literature retrieval.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Additionally, the AI Agent with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Prompt Engineering 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expands queries into tokens, concept buckets, and synonyms, helping align user questions with PubMed metadata such as publication dates and </a:t>
            </a:r>
            <a:r>
              <a:rPr lang="en-IN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MeSH</a:t>
            </a: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terms.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Conclusively, this hybrid approach supports clinicians, students, and researchers by improving access to the latest and most relevant </a:t>
            </a: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biomedical evidence.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337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87774A13-A546-78AC-5F1A-EC597D7DD32A}"/>
              </a:ext>
            </a:extLst>
          </p:cNvPr>
          <p:cNvSpPr txBox="1"/>
          <p:nvPr/>
        </p:nvSpPr>
        <p:spPr>
          <a:xfrm>
            <a:off x="1066800" y="170141"/>
            <a:ext cx="16535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LITERATURE SURVEY</a:t>
            </a:r>
            <a:endParaRPr lang="en-US" sz="6000" b="1" u="none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Nourd"/>
              <a:cs typeface="Times New Roman" panose="02020603050405020304" pitchFamily="18" charset="0"/>
              <a:sym typeface="Nou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C7E43B-3C77-8688-3E27-2E2D5BAA9951}"/>
              </a:ext>
            </a:extLst>
          </p:cNvPr>
          <p:cNvSpPr txBox="1"/>
          <p:nvPr/>
        </p:nvSpPr>
        <p:spPr>
          <a:xfrm>
            <a:off x="1066800" y="2095500"/>
            <a:ext cx="16535400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development of the semantic search model for PubMed has been done with reference to the following research papers and case studies.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1.Demystifying the Search Button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Explains robust strategies for effective PubMed searches using Boolean operators, truncation, and </a:t>
            </a:r>
            <a:r>
              <a:rPr lang="en-US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MeSH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terms.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🔗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2"/>
              </a:rPr>
              <a:t>https://pmc.ncbi.nlm.nih.gov/articles/PMC4513072/</a:t>
            </a: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2.Research Trend Visualization by </a:t>
            </a:r>
            <a:r>
              <a:rPr lang="en-US" sz="28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MeSH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Terms from PubMed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Proposes a </a:t>
            </a:r>
            <a:r>
              <a:rPr lang="en-US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MeSH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-based visualization system (</a:t>
            </a:r>
            <a:r>
              <a:rPr lang="en-US" sz="28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MeSH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Net) to reduce keyword overload and improve semantic understanding.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🔗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3"/>
              </a:rPr>
              <a:t>https://www.mdpi.com/1660-4601/15/6/1113</a:t>
            </a: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3.MedGraph: Semantic Information Retrieval Using Knowledge Graph Embeddings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Presents a graph-based embedding method to enhance semantic search precision in PubMed.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🔗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4"/>
              </a:rPr>
              <a:t>https://arxiv.org/abs/2112.06348</a:t>
            </a: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API Details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5"/>
              </a:rPr>
              <a:t>https://www.ncbi.nlm.nih.gov/home/develop/api/</a:t>
            </a:r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1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A407B789-3A7C-78E9-DC1B-302404F7325D}"/>
              </a:ext>
            </a:extLst>
          </p:cNvPr>
          <p:cNvSpPr txBox="1"/>
          <p:nvPr/>
        </p:nvSpPr>
        <p:spPr>
          <a:xfrm>
            <a:off x="6400800" y="246099"/>
            <a:ext cx="41910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accent5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ROAD MAP</a:t>
            </a:r>
            <a:endParaRPr lang="en-US" sz="6000" b="1" u="none" dirty="0">
              <a:solidFill>
                <a:schemeClr val="accent5"/>
              </a:solidFill>
              <a:latin typeface="Times New Roman" panose="02020603050405020304" pitchFamily="18" charset="0"/>
              <a:ea typeface="Nourd"/>
              <a:cs typeface="Times New Roman" panose="02020603050405020304" pitchFamily="18" charset="0"/>
              <a:sym typeface="Nourd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74CC4C-DD28-A7D3-F845-D74EBCA1D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069676"/>
              </p:ext>
            </p:extLst>
          </p:nvPr>
        </p:nvGraphicFramePr>
        <p:xfrm>
          <a:off x="685800" y="1866900"/>
          <a:ext cx="17221200" cy="7620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9539">
                  <a:extLst>
                    <a:ext uri="{9D8B030D-6E8A-4147-A177-3AD203B41FA5}">
                      <a16:colId xmlns:a16="http://schemas.microsoft.com/office/drawing/2014/main" val="2831912979"/>
                    </a:ext>
                  </a:extLst>
                </a:gridCol>
                <a:gridCol w="11451661">
                  <a:extLst>
                    <a:ext uri="{9D8B030D-6E8A-4147-A177-3AD203B41FA5}">
                      <a16:colId xmlns:a16="http://schemas.microsoft.com/office/drawing/2014/main" val="2088386832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pPr algn="ctr"/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30518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LATHEEF AHMED A </a:t>
                      </a:r>
                      <a:endParaRPr lang="en-IN" sz="2000" b="1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Led retrieval pipeline and tested endpoints; containerized the backend with an optimized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integrated /ask and right-pane references.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403245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JAGATH ABHIJIT K </a:t>
                      </a:r>
                      <a:endParaRPr lang="en-IN" sz="2000" b="1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Ensured API connectivity/tokens; tuned hybrid retrieval &amp; embeddings; implemented auth/sessions with token storage; added session hooks and state management.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499851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MORIBOYINA DEEKSHITH KUMAR </a:t>
                      </a:r>
                      <a:endParaRPr lang="en-IN" sz="2000" b="1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 PubMed API access; debugged backend errors and summary evaluation; strengthened API robustness/evaluator; built evidence rendering with citation links.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36735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GURU SHANKAR P </a:t>
                      </a:r>
                      <a:endParaRPr lang="en-IN" sz="2000" b="1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Documented early tests/baselines; evaluated backend failure cases; set up CI/CD with tests; refined chat UI bubble and composer.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57930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 BHARATH </a:t>
                      </a:r>
                      <a:endParaRPr lang="en-IN" sz="2000" b="1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 initial trials and abstract tests; validated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fallback pipeline; set up Azure environment &amp; secrets; built login/signup and maintenance flow.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763309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VALLAMSETTY VENKATA SAI PHANENDRA </a:t>
                      </a:r>
                      <a:endParaRPr lang="en-IN" sz="2000" b="1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Collected edge-case queries; evaluated ranking scores and MM-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Reranker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created smoke tests &amp;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healthcheck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endpoints; fixed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Vercel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config/routing.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31416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KOLLURU SEKHAR</a:t>
                      </a:r>
                      <a:endParaRPr lang="en-IN" sz="2000" b="1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Normalized abstracts and token checks; validated evidence packs &amp; summaries; added scaling configs and redeploy validation; handled frontend deploy + UI fixes.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845019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METTUKURU VENKATA SAI NIKHILESH REDDY </a:t>
                      </a:r>
                      <a:endParaRPr lang="en-IN" sz="2000" b="1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Recorded test runs and query variants; ensured embedding consistency and eval support; analyzed logs with redeploy validation; prepared final docs and demo polish.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732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260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1921-2486-9F5D-DFE8-8A0E243DB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BB65E3B-35F3-AE7D-A936-5E0DAF1E0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612286"/>
              </p:ext>
            </p:extLst>
          </p:nvPr>
        </p:nvGraphicFramePr>
        <p:xfrm>
          <a:off x="5486400" y="1790700"/>
          <a:ext cx="11795322" cy="2523056"/>
        </p:xfrm>
        <a:graphic>
          <a:graphicData uri="http://schemas.openxmlformats.org/drawingml/2006/table">
            <a:tbl>
              <a:tblPr/>
              <a:tblGrid>
                <a:gridCol w="3931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32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3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18BBC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 Bold"/>
                        </a:rPr>
                        <a:t>Time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18BBC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 Bold"/>
                        </a:rPr>
                        <a:t>Platform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18BBC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 Bold"/>
                        </a:rPr>
                        <a:t>Agenda of the meet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"/>
                        </a:rPr>
                        <a:t>11:30 AM</a:t>
                      </a: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"/>
                        </a:rPr>
                        <a:t>Google Meet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Rework on the algorithm along the lines of enhanced RAG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Piplines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advanced AI Tools</a:t>
                      </a:r>
                    </a:p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10">
            <a:extLst>
              <a:ext uri="{FF2B5EF4-FFF2-40B4-BE49-F238E27FC236}">
                <a16:creationId xmlns:a16="http://schemas.microsoft.com/office/drawing/2014/main" id="{CC55A940-E7D3-D561-D029-CBDBFAFD6F44}"/>
              </a:ext>
            </a:extLst>
          </p:cNvPr>
          <p:cNvSpPr txBox="1"/>
          <p:nvPr/>
        </p:nvSpPr>
        <p:spPr>
          <a:xfrm>
            <a:off x="3545534" y="360240"/>
            <a:ext cx="108585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6000" dirty="0">
                <a:solidFill>
                  <a:schemeClr val="accent5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Mentor connect details</a:t>
            </a:r>
            <a:endParaRPr lang="en-US" sz="6000" u="none" dirty="0">
              <a:solidFill>
                <a:schemeClr val="accent5"/>
              </a:solidFill>
              <a:latin typeface="Times New Roman" panose="02020603050405020304" pitchFamily="18" charset="0"/>
              <a:ea typeface="Nourd"/>
              <a:cs typeface="Times New Roman" panose="02020603050405020304" pitchFamily="18" charset="0"/>
              <a:sym typeface="Nourd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04E81A2-2D71-79E9-29C9-1E9707CA9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621586"/>
              </p:ext>
            </p:extLst>
          </p:nvPr>
        </p:nvGraphicFramePr>
        <p:xfrm>
          <a:off x="1579647" y="1790700"/>
          <a:ext cx="3931774" cy="1924267"/>
        </p:xfrm>
        <a:graphic>
          <a:graphicData uri="http://schemas.openxmlformats.org/drawingml/2006/table">
            <a:tbl>
              <a:tblPr/>
              <a:tblGrid>
                <a:gridCol w="3931774">
                  <a:extLst>
                    <a:ext uri="{9D8B030D-6E8A-4147-A177-3AD203B41FA5}">
                      <a16:colId xmlns:a16="http://schemas.microsoft.com/office/drawing/2014/main" val="383444958"/>
                    </a:ext>
                  </a:extLst>
                </a:gridCol>
              </a:tblGrid>
              <a:tr h="10032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3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18BBC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 Bold"/>
                        </a:rPr>
                        <a:t>Date of connect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600983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2100" dirty="0">
                        <a:solidFill>
                          <a:srgbClr val="545454"/>
                        </a:solidFill>
                        <a:latin typeface="Nourd"/>
                        <a:sym typeface="Nourd"/>
                      </a:endParaRPr>
                    </a:p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"/>
                        </a:rPr>
                        <a:t>22/08/25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092162"/>
                  </a:ext>
                </a:extLst>
              </a:tr>
            </a:tbl>
          </a:graphicData>
        </a:graphic>
      </p:graphicFrame>
      <p:graphicFrame>
        <p:nvGraphicFramePr>
          <p:cNvPr id="20" name="Table 8">
            <a:extLst>
              <a:ext uri="{FF2B5EF4-FFF2-40B4-BE49-F238E27FC236}">
                <a16:creationId xmlns:a16="http://schemas.microsoft.com/office/drawing/2014/main" id="{179FAF85-F159-506B-DD18-18C9DA34B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102709"/>
              </p:ext>
            </p:extLst>
          </p:nvPr>
        </p:nvGraphicFramePr>
        <p:xfrm>
          <a:off x="5486400" y="5280392"/>
          <a:ext cx="11795322" cy="2256409"/>
        </p:xfrm>
        <a:graphic>
          <a:graphicData uri="http://schemas.openxmlformats.org/drawingml/2006/table">
            <a:tbl>
              <a:tblPr/>
              <a:tblGrid>
                <a:gridCol w="3931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058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12:30 PM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The project has a well-designed architecture but needs improved modularity with </a:t>
                      </a:r>
                      <a:r>
                        <a:rPr lang="en-US" sz="2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LLaMA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Nourd"/>
                          <a:cs typeface="Times New Roman" panose="02020603050405020304" pitchFamily="18" charset="0"/>
                          <a:sym typeface="Nourd"/>
                        </a:rPr>
                        <a:t> integration, better annotations, and enhanced error handling.</a:t>
                      </a:r>
                    </a:p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Nourd"/>
                        <a:cs typeface="Times New Roman" panose="02020603050405020304" pitchFamily="18" charset="0"/>
                        <a:sym typeface="Nourd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E8EE55-F0FB-1F40-5AB5-95AA8106F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907715"/>
              </p:ext>
            </p:extLst>
          </p:nvPr>
        </p:nvGraphicFramePr>
        <p:xfrm>
          <a:off x="1579647" y="4359896"/>
          <a:ext cx="3931774" cy="2071480"/>
        </p:xfrm>
        <a:graphic>
          <a:graphicData uri="http://schemas.openxmlformats.org/drawingml/2006/table">
            <a:tbl>
              <a:tblPr/>
              <a:tblGrid>
                <a:gridCol w="3931774">
                  <a:extLst>
                    <a:ext uri="{9D8B030D-6E8A-4147-A177-3AD203B41FA5}">
                      <a16:colId xmlns:a16="http://schemas.microsoft.com/office/drawing/2014/main" val="383444958"/>
                    </a:ext>
                  </a:extLst>
                </a:gridCol>
              </a:tblGrid>
              <a:tr h="9199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3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500" dirty="0"/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600983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2100" dirty="0">
                        <a:solidFill>
                          <a:srgbClr val="545454"/>
                        </a:solidFill>
                        <a:latin typeface="Nourd"/>
                        <a:sym typeface="Nourd"/>
                      </a:endParaRPr>
                    </a:p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2500" dirty="0">
                        <a:solidFill>
                          <a:srgbClr val="545454"/>
                        </a:solidFill>
                        <a:latin typeface="Nourd"/>
                        <a:sym typeface="Nourd"/>
                      </a:endParaRPr>
                    </a:p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"/>
                        </a:rPr>
                        <a:t>26/08/25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092162"/>
                  </a:ext>
                </a:extLst>
              </a:tr>
            </a:tbl>
          </a:graphicData>
        </a:graphic>
      </p:graphicFrame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A123D8F-596E-9802-C076-9F4CA1F27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184615"/>
              </p:ext>
            </p:extLst>
          </p:nvPr>
        </p:nvGraphicFramePr>
        <p:xfrm>
          <a:off x="5511421" y="7553292"/>
          <a:ext cx="11795322" cy="2272475"/>
        </p:xfrm>
        <a:graphic>
          <a:graphicData uri="http://schemas.openxmlformats.org/drawingml/2006/table">
            <a:tbl>
              <a:tblPr/>
              <a:tblGrid>
                <a:gridCol w="3931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058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3:15 PM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400" dirty="0"/>
                        <a:t>Improve app latency, refine context-based summaries, add chat logging, remove unnecessary slides, update workflow, and ensure consistent slide alignment.</a:t>
                      </a: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Nourd"/>
                        <a:cs typeface="Times New Roman" panose="02020603050405020304" pitchFamily="18" charset="0"/>
                        <a:sym typeface="Nourd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B61DD2-FED4-5DE8-A393-C28E64B8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265736"/>
              </p:ext>
            </p:extLst>
          </p:nvPr>
        </p:nvGraphicFramePr>
        <p:xfrm>
          <a:off x="1596707" y="6640155"/>
          <a:ext cx="3931774" cy="2071480"/>
        </p:xfrm>
        <a:graphic>
          <a:graphicData uri="http://schemas.openxmlformats.org/drawingml/2006/table">
            <a:tbl>
              <a:tblPr/>
              <a:tblGrid>
                <a:gridCol w="3931774">
                  <a:extLst>
                    <a:ext uri="{9D8B030D-6E8A-4147-A177-3AD203B41FA5}">
                      <a16:colId xmlns:a16="http://schemas.microsoft.com/office/drawing/2014/main" val="383444958"/>
                    </a:ext>
                  </a:extLst>
                </a:gridCol>
              </a:tblGrid>
              <a:tr h="9199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3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500" dirty="0"/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600983"/>
                  </a:ext>
                </a:extLst>
              </a:tr>
              <a:tr h="92102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2100" dirty="0">
                        <a:solidFill>
                          <a:srgbClr val="545454"/>
                        </a:solidFill>
                        <a:latin typeface="Nourd"/>
                        <a:sym typeface="Nourd"/>
                      </a:endParaRPr>
                    </a:p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2500" dirty="0">
                        <a:solidFill>
                          <a:srgbClr val="545454"/>
                        </a:solidFill>
                        <a:latin typeface="Nourd"/>
                        <a:sym typeface="Nourd"/>
                      </a:endParaRPr>
                    </a:p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ourd"/>
                        </a:rPr>
                        <a:t>28/08/25</a:t>
                      </a:r>
                    </a:p>
                  </a:txBody>
                  <a:tcPr marL="38100" marR="38100" marT="38100" marB="381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8B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092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565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0829-BA89-B35F-686C-57DDEB68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6B33B7F-61D0-1CCB-2CCF-02FBD7E1B9BA}"/>
              </a:ext>
            </a:extLst>
          </p:cNvPr>
          <p:cNvGrpSpPr/>
          <p:nvPr/>
        </p:nvGrpSpPr>
        <p:grpSpPr>
          <a:xfrm>
            <a:off x="153235" y="4922847"/>
            <a:ext cx="11985196" cy="1281451"/>
            <a:chOff x="0" y="0"/>
            <a:chExt cx="2754428" cy="13877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DD33A9F-DC5D-DF57-4000-DECDF90312A9}"/>
                </a:ext>
              </a:extLst>
            </p:cNvPr>
            <p:cNvSpPr/>
            <p:nvPr/>
          </p:nvSpPr>
          <p:spPr>
            <a:xfrm>
              <a:off x="0" y="0"/>
              <a:ext cx="2754428" cy="138777"/>
            </a:xfrm>
            <a:custGeom>
              <a:avLst/>
              <a:gdLst/>
              <a:ahLst/>
              <a:cxnLst/>
              <a:rect l="l" t="t" r="r" b="b"/>
              <a:pathLst>
                <a:path w="2754428" h="138777">
                  <a:moveTo>
                    <a:pt x="0" y="0"/>
                  </a:moveTo>
                  <a:lnTo>
                    <a:pt x="2754428" y="0"/>
                  </a:lnTo>
                  <a:lnTo>
                    <a:pt x="2754428" y="138777"/>
                  </a:lnTo>
                  <a:lnTo>
                    <a:pt x="0" y="138777"/>
                  </a:lnTo>
                  <a:close/>
                </a:path>
              </a:pathLst>
            </a:custGeom>
            <a:solidFill>
              <a:srgbClr val="18BBCB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7DDCE3B-EFDD-C206-3398-4737E34EECCB}"/>
                </a:ext>
              </a:extLst>
            </p:cNvPr>
            <p:cNvSpPr txBox="1"/>
            <p:nvPr/>
          </p:nvSpPr>
          <p:spPr>
            <a:xfrm>
              <a:off x="0" y="0"/>
              <a:ext cx="2754428" cy="138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52A39BB-BD56-9312-7A7B-57CD84A85913}"/>
              </a:ext>
            </a:extLst>
          </p:cNvPr>
          <p:cNvGrpSpPr>
            <a:grpSpLocks noChangeAspect="1"/>
          </p:cNvGrpSpPr>
          <p:nvPr/>
        </p:nvGrpSpPr>
        <p:grpSpPr>
          <a:xfrm>
            <a:off x="13042292" y="2171700"/>
            <a:ext cx="5245707" cy="5245707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F2DEBE2-8A0A-B95D-0968-A3252A103DBF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DCFAFA"/>
            </a:solid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AE2E1A-DE10-A8E0-7369-BE7212E10511}"/>
                </a:ext>
              </a:extLst>
            </p:cNvPr>
            <p:cNvSpPr/>
            <p:nvPr/>
          </p:nvSpPr>
          <p:spPr>
            <a:xfrm>
              <a:off x="391160" y="364490"/>
              <a:ext cx="5619750" cy="5621020"/>
            </a:xfrm>
            <a:custGeom>
              <a:avLst/>
              <a:gdLst/>
              <a:ahLst/>
              <a:cxnLst/>
              <a:rect l="l" t="t" r="r" b="b"/>
              <a:pathLst>
                <a:path w="5619750" h="562102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2"/>
              <a:stretch>
                <a:fillRect l="-10565" r="-39562"/>
              </a:stretch>
            </a:blipFill>
          </p:spPr>
        </p:sp>
      </p:grpSp>
      <p:sp>
        <p:nvSpPr>
          <p:cNvPr id="14" name="TextBox 34">
            <a:extLst>
              <a:ext uri="{FF2B5EF4-FFF2-40B4-BE49-F238E27FC236}">
                <a16:creationId xmlns:a16="http://schemas.microsoft.com/office/drawing/2014/main" id="{FED60439-899E-A733-9389-479EA525C545}"/>
              </a:ext>
            </a:extLst>
          </p:cNvPr>
          <p:cNvSpPr txBox="1"/>
          <p:nvPr/>
        </p:nvSpPr>
        <p:spPr>
          <a:xfrm>
            <a:off x="1219200" y="504758"/>
            <a:ext cx="150876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urd"/>
                <a:ea typeface="Nourd"/>
                <a:cs typeface="Nourd"/>
                <a:sym typeface="Nourd"/>
              </a:rPr>
              <a:t>S</a:t>
            </a:r>
            <a:r>
              <a:rPr lang="en-US" sz="6000" b="1" u="none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urd"/>
                <a:ea typeface="Nourd"/>
                <a:cs typeface="Nourd"/>
                <a:sym typeface="Nourd"/>
              </a:rPr>
              <a:t>ource </a:t>
            </a:r>
            <a:r>
              <a:rPr lang="en-US" sz="60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urd"/>
                <a:ea typeface="Nourd"/>
                <a:cs typeface="Nourd"/>
                <a:sym typeface="Nourd"/>
              </a:rPr>
              <a:t>Code &amp; Demo Link</a:t>
            </a:r>
            <a:endParaRPr lang="en-US" sz="6000" b="1" u="none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767E7546-5B2E-3130-6188-E0E8B9F17257}"/>
              </a:ext>
            </a:extLst>
          </p:cNvPr>
          <p:cNvSpPr/>
          <p:nvPr/>
        </p:nvSpPr>
        <p:spPr>
          <a:xfrm>
            <a:off x="153235" y="3057091"/>
            <a:ext cx="11985197" cy="1397092"/>
          </a:xfrm>
          <a:custGeom>
            <a:avLst/>
            <a:gdLst/>
            <a:ahLst/>
            <a:cxnLst/>
            <a:rect l="l" t="t" r="r" b="b"/>
            <a:pathLst>
              <a:path w="2754428" h="138777">
                <a:moveTo>
                  <a:pt x="0" y="0"/>
                </a:moveTo>
                <a:lnTo>
                  <a:pt x="2754428" y="0"/>
                </a:lnTo>
                <a:lnTo>
                  <a:pt x="2754428" y="138777"/>
                </a:lnTo>
                <a:lnTo>
                  <a:pt x="0" y="138777"/>
                </a:lnTo>
                <a:close/>
              </a:path>
            </a:pathLst>
          </a:custGeom>
          <a:solidFill>
            <a:srgbClr val="18BBCB"/>
          </a:solidFill>
        </p:spPr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DA9F0212-A815-35E1-377F-E08676994046}"/>
              </a:ext>
            </a:extLst>
          </p:cNvPr>
          <p:cNvGrpSpPr/>
          <p:nvPr/>
        </p:nvGrpSpPr>
        <p:grpSpPr>
          <a:xfrm>
            <a:off x="153236" y="6704705"/>
            <a:ext cx="11985195" cy="1468502"/>
            <a:chOff x="0" y="0"/>
            <a:chExt cx="2754428" cy="138777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DF50CA8C-A427-6F61-471E-141F5E23FE12}"/>
                </a:ext>
              </a:extLst>
            </p:cNvPr>
            <p:cNvSpPr/>
            <p:nvPr/>
          </p:nvSpPr>
          <p:spPr>
            <a:xfrm>
              <a:off x="0" y="0"/>
              <a:ext cx="2754428" cy="138777"/>
            </a:xfrm>
            <a:custGeom>
              <a:avLst/>
              <a:gdLst/>
              <a:ahLst/>
              <a:cxnLst/>
              <a:rect l="l" t="t" r="r" b="b"/>
              <a:pathLst>
                <a:path w="2754428" h="138777">
                  <a:moveTo>
                    <a:pt x="0" y="0"/>
                  </a:moveTo>
                  <a:lnTo>
                    <a:pt x="2754428" y="0"/>
                  </a:lnTo>
                  <a:lnTo>
                    <a:pt x="2754428" y="138777"/>
                  </a:lnTo>
                  <a:lnTo>
                    <a:pt x="0" y="138777"/>
                  </a:lnTo>
                  <a:close/>
                </a:path>
              </a:pathLst>
            </a:custGeom>
            <a:solidFill>
              <a:srgbClr val="18BBCB"/>
            </a:solidFill>
          </p:spPr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F42A277D-D214-BE4D-CEEA-02BBD2087C7B}"/>
                </a:ext>
              </a:extLst>
            </p:cNvPr>
            <p:cNvSpPr txBox="1"/>
            <p:nvPr/>
          </p:nvSpPr>
          <p:spPr>
            <a:xfrm>
              <a:off x="0" y="0"/>
              <a:ext cx="2754428" cy="138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AF11CE4-245D-2B53-C267-D9094BD02809}"/>
              </a:ext>
            </a:extLst>
          </p:cNvPr>
          <p:cNvSpPr txBox="1"/>
          <p:nvPr/>
        </p:nvSpPr>
        <p:spPr>
          <a:xfrm>
            <a:off x="280121" y="6883522"/>
            <a:ext cx="9701773" cy="1363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73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Demo Link: 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  <a:hlinkClick r:id="rId3"/>
              </a:rPr>
              <a:t>https://drive.google.com/file/d/1x7UYlHZy3r_EEDfQ_z4La_jVI2-85SuV/view?usp=sharing</a:t>
            </a:r>
            <a:endParaRPr lang="en-US" sz="2800" dirty="0">
              <a:solidFill>
                <a:srgbClr val="FFFFFF"/>
              </a:solidFill>
              <a:latin typeface="Times New Roman" panose="02020603050405020304" pitchFamily="18" charset="0"/>
              <a:ea typeface="Nourd"/>
              <a:cs typeface="Times New Roman" panose="02020603050405020304" pitchFamily="18" charset="0"/>
              <a:sym typeface="Nourd"/>
            </a:endParaRPr>
          </a:p>
          <a:p>
            <a:pPr lvl="0">
              <a:lnSpc>
                <a:spcPts val="2730"/>
              </a:lnSpc>
              <a:spcBef>
                <a:spcPct val="0"/>
              </a:spcBef>
            </a:pPr>
            <a:endParaRPr lang="en-US" sz="2100" u="none" dirty="0">
              <a:solidFill>
                <a:srgbClr val="FFFFFF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B9D236-ED9F-8F29-C110-0012DE44EEAA}"/>
              </a:ext>
            </a:extLst>
          </p:cNvPr>
          <p:cNvSpPr txBox="1"/>
          <p:nvPr/>
        </p:nvSpPr>
        <p:spPr>
          <a:xfrm>
            <a:off x="269092" y="3230432"/>
            <a:ext cx="12431035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73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Source code for Frontend 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  <a:hlinkClick r:id="rId4"/>
              </a:rPr>
              <a:t>https://github.com/latheefahmed/medrag-frontend</a:t>
            </a:r>
            <a:endParaRPr lang="en-US" sz="2800" dirty="0">
              <a:solidFill>
                <a:srgbClr val="FFFFFF"/>
              </a:solidFill>
              <a:latin typeface="Times New Roman" panose="02020603050405020304" pitchFamily="18" charset="0"/>
              <a:ea typeface="Nourd"/>
              <a:cs typeface="Times New Roman" panose="02020603050405020304" pitchFamily="18" charset="0"/>
              <a:sym typeface="Nourd"/>
            </a:endParaRPr>
          </a:p>
          <a:p>
            <a:pPr lvl="0">
              <a:lnSpc>
                <a:spcPts val="2730"/>
              </a:lnSpc>
              <a:spcBef>
                <a:spcPct val="0"/>
              </a:spcBef>
            </a:pPr>
            <a:r>
              <a:rPr lang="en-US" sz="2800" u="none" dirty="0">
                <a:solidFill>
                  <a:srgbClr val="FFFFFF"/>
                </a:solidFill>
                <a:latin typeface="Nourd"/>
                <a:ea typeface="Nourd"/>
                <a:cs typeface="Nourd"/>
                <a:sym typeface="Nourd"/>
              </a:rPr>
              <a:t>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C125DB-4AE1-2601-92E2-D675C1FAA598}"/>
              </a:ext>
            </a:extLst>
          </p:cNvPr>
          <p:cNvSpPr txBox="1"/>
          <p:nvPr/>
        </p:nvSpPr>
        <p:spPr>
          <a:xfrm>
            <a:off x="296043" y="3663701"/>
            <a:ext cx="11705076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73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Hosting      : </a:t>
            </a:r>
            <a:r>
              <a:rPr lang="en-US" sz="2800" dirty="0" err="1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Vercel</a:t>
            </a:r>
            <a:r>
              <a:rPr lang="en-US" sz="2800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      </a:t>
            </a:r>
          </a:p>
          <a:p>
            <a:pPr lvl="0">
              <a:lnSpc>
                <a:spcPts val="273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Framework: Next.js (React + TypeScript)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D9935C81-EFDE-D806-068D-9BFF2C317422}"/>
              </a:ext>
            </a:extLst>
          </p:cNvPr>
          <p:cNvSpPr txBox="1"/>
          <p:nvPr/>
        </p:nvSpPr>
        <p:spPr>
          <a:xfrm>
            <a:off x="296043" y="5058440"/>
            <a:ext cx="11240943" cy="670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73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Source code for Backend 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  <a:hlinkClick r:id="rId5"/>
              </a:rPr>
              <a:t>https://github.com/latheefahmed/medrag_api</a:t>
            </a:r>
            <a:endParaRPr lang="en-US" sz="2800" dirty="0">
              <a:solidFill>
                <a:srgbClr val="FFFFFF"/>
              </a:solidFill>
              <a:latin typeface="Times New Roman" panose="02020603050405020304" pitchFamily="18" charset="0"/>
              <a:ea typeface="Nourd"/>
              <a:cs typeface="Times New Roman" panose="02020603050405020304" pitchFamily="18" charset="0"/>
              <a:sym typeface="Nourd"/>
            </a:endParaRPr>
          </a:p>
          <a:p>
            <a:pPr lvl="0">
              <a:lnSpc>
                <a:spcPts val="2730"/>
              </a:lnSpc>
              <a:spcBef>
                <a:spcPct val="0"/>
              </a:spcBef>
            </a:pPr>
            <a:endParaRPr lang="en-US" sz="2100" u="none" dirty="0">
              <a:solidFill>
                <a:srgbClr val="FFFFFF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06C292-A916-BA74-976C-9650D9869DEB}"/>
              </a:ext>
            </a:extLst>
          </p:cNvPr>
          <p:cNvSpPr txBox="1"/>
          <p:nvPr/>
        </p:nvSpPr>
        <p:spPr>
          <a:xfrm>
            <a:off x="280121" y="5427698"/>
            <a:ext cx="11705076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73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Azure Container Apps : Containerization &amp; Images Using Docker </a:t>
            </a:r>
          </a:p>
          <a:p>
            <a:pPr lvl="0">
              <a:lnSpc>
                <a:spcPts val="273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Data Storage               : Azure Cosmos DB NoSQL</a:t>
            </a:r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A3996FDE-7E85-3F46-EF88-7D707995F51E}"/>
              </a:ext>
            </a:extLst>
          </p:cNvPr>
          <p:cNvGrpSpPr/>
          <p:nvPr/>
        </p:nvGrpSpPr>
        <p:grpSpPr>
          <a:xfrm>
            <a:off x="140061" y="8570971"/>
            <a:ext cx="11985195" cy="839729"/>
            <a:chOff x="0" y="0"/>
            <a:chExt cx="2754428" cy="138777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DDAE2BF9-1AEB-6457-89CE-68AE3C0CE6F6}"/>
                </a:ext>
              </a:extLst>
            </p:cNvPr>
            <p:cNvSpPr/>
            <p:nvPr/>
          </p:nvSpPr>
          <p:spPr>
            <a:xfrm>
              <a:off x="0" y="0"/>
              <a:ext cx="2754428" cy="138777"/>
            </a:xfrm>
            <a:custGeom>
              <a:avLst/>
              <a:gdLst/>
              <a:ahLst/>
              <a:cxnLst/>
              <a:rect l="l" t="t" r="r" b="b"/>
              <a:pathLst>
                <a:path w="2754428" h="138777">
                  <a:moveTo>
                    <a:pt x="0" y="0"/>
                  </a:moveTo>
                  <a:lnTo>
                    <a:pt x="2754428" y="0"/>
                  </a:lnTo>
                  <a:lnTo>
                    <a:pt x="2754428" y="138777"/>
                  </a:lnTo>
                  <a:lnTo>
                    <a:pt x="0" y="138777"/>
                  </a:lnTo>
                  <a:close/>
                </a:path>
              </a:pathLst>
            </a:custGeom>
            <a:solidFill>
              <a:srgbClr val="18BBCB"/>
            </a:solidFill>
          </p:spPr>
        </p:sp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8FD9669F-46A6-B0F3-A09A-694F8F43A78B}"/>
                </a:ext>
              </a:extLst>
            </p:cNvPr>
            <p:cNvSpPr txBox="1"/>
            <p:nvPr/>
          </p:nvSpPr>
          <p:spPr>
            <a:xfrm>
              <a:off x="0" y="0"/>
              <a:ext cx="2754428" cy="138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1FB67E5-8D9D-CF92-90CE-8CF0AA0FA556}"/>
              </a:ext>
            </a:extLst>
          </p:cNvPr>
          <p:cNvSpPr txBox="1"/>
          <p:nvPr/>
        </p:nvSpPr>
        <p:spPr>
          <a:xfrm>
            <a:off x="269093" y="8673614"/>
            <a:ext cx="114657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Host Link: </a:t>
            </a:r>
            <a:r>
              <a:rPr lang="en-US" sz="2800" dirty="0">
                <a:hlinkClick r:id="rId6"/>
              </a:rPr>
              <a:t>https://medrag-frontend.vercel.app/login</a:t>
            </a:r>
            <a:endParaRPr lang="en-US" sz="2800" dirty="0"/>
          </a:p>
          <a:p>
            <a:r>
              <a:rPr lang="en-US" sz="2800" dirty="0"/>
              <a:t>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90726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57717" y="3771900"/>
            <a:ext cx="14709501" cy="204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3"/>
              </a:lnSpc>
            </a:pPr>
            <a:r>
              <a:rPr lang="en-US" sz="13478" dirty="0">
                <a:solidFill>
                  <a:srgbClr val="18BBCB"/>
                </a:solidFill>
                <a:latin typeface="Nourd Bold"/>
                <a:ea typeface="Nourd Bold"/>
                <a:cs typeface="Nourd Bold"/>
                <a:sym typeface="Nourd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1955</Words>
  <Application>Microsoft Office PowerPoint</Application>
  <PresentationFormat>Custom</PresentationFormat>
  <Paragraphs>262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Wingdings</vt:lpstr>
      <vt:lpstr>Nourd</vt:lpstr>
      <vt:lpstr>Nourd Bold</vt:lpstr>
      <vt:lpstr>Calibri</vt:lpstr>
      <vt:lpstr>Arial</vt:lpstr>
      <vt:lpstr>Times New Roman</vt:lpstr>
      <vt:lpstr>Tenorite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Blue and White Gradient Modern Healthcare Business Professional Medical Center Presentation</dc:title>
  <dc:creator>Phani Vallamsetty</dc:creator>
  <cp:lastModifiedBy>YUGANDHAR KOLLURU</cp:lastModifiedBy>
  <cp:revision>38</cp:revision>
  <dcterms:created xsi:type="dcterms:W3CDTF">2006-08-16T00:00:00Z</dcterms:created>
  <dcterms:modified xsi:type="dcterms:W3CDTF">2025-09-01T14:18:21Z</dcterms:modified>
  <dc:identifier>DAGxFo78PM0</dc:identifier>
</cp:coreProperties>
</file>